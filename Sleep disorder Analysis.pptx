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3" r:id="rId8"/>
    <p:sldId id="262"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A2C26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29" autoAdjust="0"/>
    <p:restoredTop sz="94660"/>
  </p:normalViewPr>
  <p:slideViewPr>
    <p:cSldViewPr snapToGrid="0">
      <p:cViewPr varScale="1">
        <p:scale>
          <a:sx n="67" d="100"/>
          <a:sy n="67" d="100"/>
        </p:scale>
        <p:origin x="102" y="4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2B1A6754-9913-43D1-980B-2EF9D01DC74E}" type="datetimeFigureOut">
              <a:rPr lang="en-IN" smtClean="0"/>
              <a:t>15-12-2025</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74685C43-2BDE-4623-984E-6C71CA730994}" type="slidenum">
              <a:rPr lang="en-IN" smtClean="0"/>
              <a:t>‹#›</a:t>
            </a:fld>
            <a:endParaRPr lang="en-IN"/>
          </a:p>
        </p:txBody>
      </p:sp>
    </p:spTree>
    <p:extLst>
      <p:ext uri="{BB962C8B-B14F-4D97-AF65-F5344CB8AC3E}">
        <p14:creationId xmlns:p14="http://schemas.microsoft.com/office/powerpoint/2010/main" val="9695163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B1A6754-9913-43D1-980B-2EF9D01DC74E}" type="datetimeFigureOut">
              <a:rPr lang="en-IN" smtClean="0"/>
              <a:t>15-12-2025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74685C43-2BDE-4623-984E-6C71CA730994}" type="slidenum">
              <a:rPr lang="en-IN" smtClean="0"/>
              <a:t>‹#›</a:t>
            </a:fld>
            <a:endParaRPr lang="en-IN"/>
          </a:p>
        </p:txBody>
      </p:sp>
    </p:spTree>
    <p:extLst>
      <p:ext uri="{BB962C8B-B14F-4D97-AF65-F5344CB8AC3E}">
        <p14:creationId xmlns:p14="http://schemas.microsoft.com/office/powerpoint/2010/main" val="5311101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2B1A6754-9913-43D1-980B-2EF9D01DC74E}" type="datetimeFigureOut">
              <a:rPr lang="en-IN" smtClean="0"/>
              <a:t>15-12-2025</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74685C43-2BDE-4623-984E-6C71CA730994}" type="slidenum">
              <a:rPr lang="en-IN" smtClean="0"/>
              <a:t>‹#›</a:t>
            </a:fld>
            <a:endParaRPr lang="en-IN"/>
          </a:p>
        </p:txBody>
      </p:sp>
    </p:spTree>
    <p:extLst>
      <p:ext uri="{BB962C8B-B14F-4D97-AF65-F5344CB8AC3E}">
        <p14:creationId xmlns:p14="http://schemas.microsoft.com/office/powerpoint/2010/main" val="20566296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2B1A6754-9913-43D1-980B-2EF9D01DC74E}" type="datetimeFigureOut">
              <a:rPr lang="en-IN" smtClean="0"/>
              <a:t>15-12-2025</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74685C43-2BDE-4623-984E-6C71CA730994}" type="slidenum">
              <a:rPr lang="en-IN" smtClean="0"/>
              <a:t>‹#›</a:t>
            </a:fld>
            <a:endParaRPr lang="en-IN"/>
          </a:p>
        </p:txBody>
      </p:sp>
    </p:spTree>
    <p:extLst>
      <p:ext uri="{BB962C8B-B14F-4D97-AF65-F5344CB8AC3E}">
        <p14:creationId xmlns:p14="http://schemas.microsoft.com/office/powerpoint/2010/main" val="7875616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2B1A6754-9913-43D1-980B-2EF9D01DC74E}" type="datetimeFigureOut">
              <a:rPr lang="en-IN" smtClean="0"/>
              <a:t>15-12-2025</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74685C43-2BDE-4623-984E-6C71CA730994}" type="slidenum">
              <a:rPr lang="en-IN" smtClean="0"/>
              <a:t>‹#›</a:t>
            </a:fld>
            <a:endParaRPr lang="en-IN"/>
          </a:p>
        </p:txBody>
      </p:sp>
    </p:spTree>
    <p:extLst>
      <p:ext uri="{BB962C8B-B14F-4D97-AF65-F5344CB8AC3E}">
        <p14:creationId xmlns:p14="http://schemas.microsoft.com/office/powerpoint/2010/main" val="19564199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2B1A6754-9913-43D1-980B-2EF9D01DC74E}" type="datetimeFigureOut">
              <a:rPr lang="en-IN" smtClean="0"/>
              <a:t>15-12-2025</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74685C43-2BDE-4623-984E-6C71CA730994}" type="slidenum">
              <a:rPr lang="en-IN" smtClean="0"/>
              <a:t>‹#›</a:t>
            </a:fld>
            <a:endParaRPr lang="en-IN"/>
          </a:p>
        </p:txBody>
      </p:sp>
    </p:spTree>
    <p:extLst>
      <p:ext uri="{BB962C8B-B14F-4D97-AF65-F5344CB8AC3E}">
        <p14:creationId xmlns:p14="http://schemas.microsoft.com/office/powerpoint/2010/main" val="5455980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B1A6754-9913-43D1-980B-2EF9D01DC74E}" type="datetimeFigureOut">
              <a:rPr lang="en-IN" smtClean="0"/>
              <a:t>15-12-2025</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74685C43-2BDE-4623-984E-6C71CA730994}" type="slidenum">
              <a:rPr lang="en-IN" smtClean="0"/>
              <a:t>‹#›</a:t>
            </a:fld>
            <a:endParaRPr lang="en-IN"/>
          </a:p>
        </p:txBody>
      </p:sp>
    </p:spTree>
    <p:extLst>
      <p:ext uri="{BB962C8B-B14F-4D97-AF65-F5344CB8AC3E}">
        <p14:creationId xmlns:p14="http://schemas.microsoft.com/office/powerpoint/2010/main" val="2411268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2B1A6754-9913-43D1-980B-2EF9D01DC74E}" type="datetimeFigureOut">
              <a:rPr lang="en-IN" smtClean="0"/>
              <a:t>15-12-2025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74685C43-2BDE-4623-984E-6C71CA730994}" type="slidenum">
              <a:rPr lang="en-IN" smtClean="0"/>
              <a:t>‹#›</a:t>
            </a:fld>
            <a:endParaRPr lang="en-IN"/>
          </a:p>
        </p:txBody>
      </p:sp>
    </p:spTree>
    <p:extLst>
      <p:ext uri="{BB962C8B-B14F-4D97-AF65-F5344CB8AC3E}">
        <p14:creationId xmlns:p14="http://schemas.microsoft.com/office/powerpoint/2010/main" val="39815786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2B1A6754-9913-43D1-980B-2EF9D01DC74E}" type="datetimeFigureOut">
              <a:rPr lang="en-IN" smtClean="0"/>
              <a:t>15-12-2025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4685C43-2BDE-4623-984E-6C71CA730994}" type="slidenum">
              <a:rPr lang="en-IN" smtClean="0"/>
              <a:t>‹#›</a:t>
            </a:fld>
            <a:endParaRPr lang="en-IN"/>
          </a:p>
        </p:txBody>
      </p:sp>
    </p:spTree>
    <p:extLst>
      <p:ext uri="{BB962C8B-B14F-4D97-AF65-F5344CB8AC3E}">
        <p14:creationId xmlns:p14="http://schemas.microsoft.com/office/powerpoint/2010/main" val="5606439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2B1A6754-9913-43D1-980B-2EF9D01DC74E}" type="datetimeFigureOut">
              <a:rPr lang="en-IN" smtClean="0"/>
              <a:t>15-12-2025</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74685C43-2BDE-4623-984E-6C71CA730994}" type="slidenum">
              <a:rPr lang="en-IN" smtClean="0"/>
              <a:t>‹#›</a:t>
            </a:fld>
            <a:endParaRPr lang="en-IN"/>
          </a:p>
        </p:txBody>
      </p:sp>
    </p:spTree>
    <p:extLst>
      <p:ext uri="{BB962C8B-B14F-4D97-AF65-F5344CB8AC3E}">
        <p14:creationId xmlns:p14="http://schemas.microsoft.com/office/powerpoint/2010/main" val="39303841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2B1A6754-9913-43D1-980B-2EF9D01DC74E}" type="datetimeFigureOut">
              <a:rPr lang="en-IN" smtClean="0"/>
              <a:t>15-12-2025</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74685C43-2BDE-4623-984E-6C71CA730994}"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6337068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2B1A6754-9913-43D1-980B-2EF9D01DC74E}" type="datetimeFigureOut">
              <a:rPr lang="en-IN" smtClean="0"/>
              <a:t>15-12-2025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4685C43-2BDE-4623-984E-6C71CA730994}" type="slidenum">
              <a:rPr lang="en-IN" smtClean="0"/>
              <a:t>‹#›</a:t>
            </a:fld>
            <a:endParaRPr lang="en-IN"/>
          </a:p>
        </p:txBody>
      </p:sp>
    </p:spTree>
    <p:extLst>
      <p:ext uri="{BB962C8B-B14F-4D97-AF65-F5344CB8AC3E}">
        <p14:creationId xmlns:p14="http://schemas.microsoft.com/office/powerpoint/2010/main" val="1110450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2B1A6754-9913-43D1-980B-2EF9D01DC74E}" type="datetimeFigureOut">
              <a:rPr lang="en-IN" smtClean="0"/>
              <a:t>15-12-2025</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4685C43-2BDE-4623-984E-6C71CA730994}"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1116204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2B1A6754-9913-43D1-980B-2EF9D01DC74E}" type="datetimeFigureOut">
              <a:rPr lang="en-IN" smtClean="0"/>
              <a:t>15-12-2025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4685C43-2BDE-4623-984E-6C71CA730994}" type="slidenum">
              <a:rPr lang="en-IN" smtClean="0"/>
              <a:t>‹#›</a:t>
            </a:fld>
            <a:endParaRPr lang="en-IN"/>
          </a:p>
        </p:txBody>
      </p:sp>
    </p:spTree>
    <p:extLst>
      <p:ext uri="{BB962C8B-B14F-4D97-AF65-F5344CB8AC3E}">
        <p14:creationId xmlns:p14="http://schemas.microsoft.com/office/powerpoint/2010/main" val="37531982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B1A6754-9913-43D1-980B-2EF9D01DC74E}" type="datetimeFigureOut">
              <a:rPr lang="en-IN" smtClean="0"/>
              <a:t>15-12-2025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74685C43-2BDE-4623-984E-6C71CA730994}" type="slidenum">
              <a:rPr lang="en-IN" smtClean="0"/>
              <a:t>‹#›</a:t>
            </a:fld>
            <a:endParaRPr lang="en-IN"/>
          </a:p>
        </p:txBody>
      </p:sp>
    </p:spTree>
    <p:extLst>
      <p:ext uri="{BB962C8B-B14F-4D97-AF65-F5344CB8AC3E}">
        <p14:creationId xmlns:p14="http://schemas.microsoft.com/office/powerpoint/2010/main" val="11843087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B1A6754-9913-43D1-980B-2EF9D01DC74E}" type="datetimeFigureOut">
              <a:rPr lang="en-IN" smtClean="0"/>
              <a:t>15-12-2025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74685C43-2BDE-4623-984E-6C71CA730994}" type="slidenum">
              <a:rPr lang="en-IN" smtClean="0"/>
              <a:t>‹#›</a:t>
            </a:fld>
            <a:endParaRPr lang="en-IN"/>
          </a:p>
        </p:txBody>
      </p:sp>
    </p:spTree>
    <p:extLst>
      <p:ext uri="{BB962C8B-B14F-4D97-AF65-F5344CB8AC3E}">
        <p14:creationId xmlns:p14="http://schemas.microsoft.com/office/powerpoint/2010/main" val="20950497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2B1A6754-9913-43D1-980B-2EF9D01DC74E}" type="datetimeFigureOut">
              <a:rPr lang="en-IN" smtClean="0"/>
              <a:t>15-12-2025</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74685C43-2BDE-4623-984E-6C71CA730994}" type="slidenum">
              <a:rPr lang="en-IN" smtClean="0"/>
              <a:t>‹#›</a:t>
            </a:fld>
            <a:endParaRPr lang="en-IN"/>
          </a:p>
        </p:txBody>
      </p:sp>
    </p:spTree>
    <p:extLst>
      <p:ext uri="{BB962C8B-B14F-4D97-AF65-F5344CB8AC3E}">
        <p14:creationId xmlns:p14="http://schemas.microsoft.com/office/powerpoint/2010/main" val="230775742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361245"/>
            <a:ext cx="9144000" cy="1038578"/>
          </a:xfrm>
        </p:spPr>
        <p:txBody>
          <a:bodyPr/>
          <a:lstStyle/>
          <a:p>
            <a:r>
              <a:rPr lang="en-US" dirty="0" smtClean="0"/>
              <a:t>Sleep disorder Analysis</a:t>
            </a:r>
            <a:endParaRPr lang="en-IN" dirty="0"/>
          </a:p>
        </p:txBody>
      </p:sp>
      <p:sp>
        <p:nvSpPr>
          <p:cNvPr id="3" name="Subtitle 2"/>
          <p:cNvSpPr>
            <a:spLocks noGrp="1"/>
          </p:cNvSpPr>
          <p:nvPr>
            <p:ph type="subTitle" idx="1"/>
          </p:nvPr>
        </p:nvSpPr>
        <p:spPr>
          <a:xfrm>
            <a:off x="1524000" y="2043288"/>
            <a:ext cx="9144000" cy="4131733"/>
          </a:xfrm>
        </p:spPr>
        <p:txBody>
          <a:bodyPr>
            <a:normAutofit fontScale="92500"/>
          </a:bodyPr>
          <a:lstStyle/>
          <a:p>
            <a:pPr algn="just">
              <a:lnSpc>
                <a:spcPct val="200000"/>
              </a:lnSpc>
            </a:pPr>
            <a:r>
              <a:rPr lang="en-US" sz="2000" dirty="0" smtClean="0">
                <a:latin typeface="Times New Roman" panose="02020603050405020304" pitchFamily="18" charset="0"/>
                <a:cs typeface="Times New Roman" panose="02020603050405020304" pitchFamily="18" charset="0"/>
              </a:rPr>
              <a:t>Sleep disorders are a growing health concern affecting both physical and mental well-being. Quality sleep is essential for maintaining productivity, emotional balance, and overall health. This project performs an exploratory data analysis (EDA) to study factors influencing sleep disorders. The dataset includes demographic, lifestyle, and occupational variables such as age, stress level, physical activity, and sleep duration. The analysis aims to identify key patterns and insights that can help understand and improve sleep health</a:t>
            </a:r>
            <a:r>
              <a:rPr lang="en-US" dirty="0" smtClean="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0392407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Data Loading</a:t>
            </a:r>
            <a:endParaRPr lang="en-IN" dirty="0"/>
          </a:p>
        </p:txBody>
      </p:sp>
      <p:pic>
        <p:nvPicPr>
          <p:cNvPr id="4" name="Content Placeholder 3"/>
          <p:cNvPicPr>
            <a:picLocks noGrp="1" noChangeAspect="1"/>
          </p:cNvPicPr>
          <p:nvPr>
            <p:ph idx="1"/>
          </p:nvPr>
        </p:nvPicPr>
        <p:blipFill>
          <a:blip r:embed="rId2"/>
          <a:stretch>
            <a:fillRect/>
          </a:stretch>
        </p:blipFill>
        <p:spPr>
          <a:xfrm>
            <a:off x="300419" y="2389894"/>
            <a:ext cx="6346131" cy="2196394"/>
          </a:xfrm>
          <a:prstGeom prst="rect">
            <a:avLst/>
          </a:prstGeom>
        </p:spPr>
      </p:pic>
      <p:pic>
        <p:nvPicPr>
          <p:cNvPr id="5" name="Picture 4"/>
          <p:cNvPicPr>
            <a:picLocks noChangeAspect="1"/>
          </p:cNvPicPr>
          <p:nvPr/>
        </p:nvPicPr>
        <p:blipFill rotWithShape="1">
          <a:blip r:embed="rId3"/>
          <a:srcRect t="1667"/>
          <a:stretch/>
        </p:blipFill>
        <p:spPr>
          <a:xfrm>
            <a:off x="5950762" y="1568097"/>
            <a:ext cx="5553850" cy="4702508"/>
          </a:xfrm>
          <a:prstGeom prst="rect">
            <a:avLst/>
          </a:prstGeom>
        </p:spPr>
      </p:pic>
    </p:spTree>
    <p:extLst>
      <p:ext uri="{BB962C8B-B14F-4D97-AF65-F5344CB8AC3E}">
        <p14:creationId xmlns:p14="http://schemas.microsoft.com/office/powerpoint/2010/main" val="424686229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Preprocessing</a:t>
            </a:r>
            <a:endParaRPr lang="en-IN" dirty="0"/>
          </a:p>
        </p:txBody>
      </p:sp>
      <p:pic>
        <p:nvPicPr>
          <p:cNvPr id="4" name="Content Placeholder 3"/>
          <p:cNvPicPr>
            <a:picLocks noGrp="1" noChangeAspect="1"/>
          </p:cNvPicPr>
          <p:nvPr>
            <p:ph idx="1"/>
          </p:nvPr>
        </p:nvPicPr>
        <p:blipFill rotWithShape="1">
          <a:blip r:embed="rId2"/>
          <a:srcRect t="1493" b="2712"/>
          <a:stretch/>
        </p:blipFill>
        <p:spPr>
          <a:xfrm>
            <a:off x="838200" y="2043289"/>
            <a:ext cx="3815885" cy="3589867"/>
          </a:xfrm>
          <a:prstGeom prst="rect">
            <a:avLst/>
          </a:prstGeom>
        </p:spPr>
      </p:pic>
      <p:pic>
        <p:nvPicPr>
          <p:cNvPr id="5" name="Picture 4"/>
          <p:cNvPicPr>
            <a:picLocks noChangeAspect="1"/>
          </p:cNvPicPr>
          <p:nvPr/>
        </p:nvPicPr>
        <p:blipFill rotWithShape="1">
          <a:blip r:embed="rId3"/>
          <a:srcRect t="1018"/>
          <a:stretch/>
        </p:blipFill>
        <p:spPr>
          <a:xfrm>
            <a:off x="5195086" y="1522541"/>
            <a:ext cx="6430272" cy="4676985"/>
          </a:xfrm>
          <a:prstGeom prst="rect">
            <a:avLst/>
          </a:prstGeom>
        </p:spPr>
      </p:pic>
    </p:spTree>
    <p:extLst>
      <p:ext uri="{BB962C8B-B14F-4D97-AF65-F5344CB8AC3E}">
        <p14:creationId xmlns:p14="http://schemas.microsoft.com/office/powerpoint/2010/main" val="84743298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71663" y="624110"/>
            <a:ext cx="9632949" cy="1280890"/>
          </a:xfrm>
        </p:spPr>
        <p:txBody>
          <a:bodyPr>
            <a:normAutofit fontScale="90000"/>
          </a:bodyPr>
          <a:lstStyle/>
          <a:p>
            <a:pPr algn="ctr"/>
            <a:r>
              <a:rPr lang="en-US" dirty="0"/>
              <a:t>Graph of Occupation vs Average age groups</a:t>
            </a:r>
            <a:r>
              <a:rPr lang="en-US" b="1" dirty="0"/>
              <a:t/>
            </a:r>
            <a:br>
              <a:rPr lang="en-US" b="1" dirty="0"/>
            </a:br>
            <a:r>
              <a:rPr lang="en-IN" dirty="0" smtClean="0"/>
              <a:t/>
            </a:r>
            <a:br>
              <a:rPr lang="en-IN" dirty="0" smtClean="0"/>
            </a:br>
            <a:endParaRPr lang="en-IN" dirty="0"/>
          </a:p>
        </p:txBody>
      </p:sp>
      <p:pic>
        <p:nvPicPr>
          <p:cNvPr id="4" name="Picture 3"/>
          <p:cNvPicPr>
            <a:picLocks noChangeAspect="1"/>
          </p:cNvPicPr>
          <p:nvPr/>
        </p:nvPicPr>
        <p:blipFill rotWithShape="1">
          <a:blip r:embed="rId2"/>
          <a:srcRect l="2120"/>
          <a:stretch/>
        </p:blipFill>
        <p:spPr>
          <a:xfrm>
            <a:off x="787967" y="2505035"/>
            <a:ext cx="3239418" cy="2891719"/>
          </a:xfrm>
          <a:prstGeom prst="rect">
            <a:avLst/>
          </a:prstGeom>
        </p:spPr>
      </p:pic>
      <p:pic>
        <p:nvPicPr>
          <p:cNvPr id="5" name="Picture 4"/>
          <p:cNvPicPr>
            <a:picLocks noChangeAspect="1"/>
          </p:cNvPicPr>
          <p:nvPr/>
        </p:nvPicPr>
        <p:blipFill>
          <a:blip r:embed="rId3"/>
          <a:stretch>
            <a:fillRect/>
          </a:stretch>
        </p:blipFill>
        <p:spPr>
          <a:xfrm>
            <a:off x="4941499" y="2118747"/>
            <a:ext cx="6573167" cy="4058216"/>
          </a:xfrm>
          <a:prstGeom prst="rect">
            <a:avLst/>
          </a:prstGeom>
        </p:spPr>
      </p:pic>
      <p:sp>
        <p:nvSpPr>
          <p:cNvPr id="6" name="TextBox 5"/>
          <p:cNvSpPr txBox="1"/>
          <p:nvPr/>
        </p:nvSpPr>
        <p:spPr>
          <a:xfrm>
            <a:off x="677334" y="5271911"/>
            <a:ext cx="1358408" cy="1764160"/>
          </a:xfrm>
          <a:prstGeom prst="rect">
            <a:avLst/>
          </a:prstGeom>
          <a:noFill/>
        </p:spPr>
        <p:txBody>
          <a:bodyPr wrap="square" rtlCol="0">
            <a:spAutoFit/>
          </a:bodyPr>
          <a:lstStyle/>
          <a:p>
            <a:endParaRPr lang="en-IN" dirty="0"/>
          </a:p>
        </p:txBody>
      </p:sp>
    </p:spTree>
    <p:extLst>
      <p:ext uri="{BB962C8B-B14F-4D97-AF65-F5344CB8AC3E}">
        <p14:creationId xmlns:p14="http://schemas.microsoft.com/office/powerpoint/2010/main" val="115606741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20738"/>
          </a:xfrm>
        </p:spPr>
        <p:txBody>
          <a:bodyPr>
            <a:normAutofit fontScale="90000"/>
          </a:bodyPr>
          <a:lstStyle/>
          <a:p>
            <a:r>
              <a:rPr lang="en-US" dirty="0" smtClean="0"/>
              <a:t>       Graph </a:t>
            </a:r>
            <a:r>
              <a:rPr lang="en-US" dirty="0"/>
              <a:t>of </a:t>
            </a:r>
            <a:r>
              <a:rPr lang="en-US" dirty="0" smtClean="0"/>
              <a:t>average </a:t>
            </a:r>
            <a:r>
              <a:rPr lang="en-US" dirty="0"/>
              <a:t>stress level by age group</a:t>
            </a:r>
            <a:br>
              <a:rPr lang="en-US" dirty="0"/>
            </a:br>
            <a:endParaRPr lang="en-IN" dirty="0"/>
          </a:p>
        </p:txBody>
      </p:sp>
      <p:pic>
        <p:nvPicPr>
          <p:cNvPr id="4" name="Content Placeholder 3"/>
          <p:cNvPicPr>
            <a:picLocks noGrp="1" noChangeAspect="1"/>
          </p:cNvPicPr>
          <p:nvPr>
            <p:ph idx="1"/>
          </p:nvPr>
        </p:nvPicPr>
        <p:blipFill>
          <a:blip r:embed="rId2"/>
          <a:stretch>
            <a:fillRect/>
          </a:stretch>
        </p:blipFill>
        <p:spPr>
          <a:xfrm>
            <a:off x="838200" y="2153796"/>
            <a:ext cx="4066560" cy="2732993"/>
          </a:xfrm>
          <a:prstGeom prst="rect">
            <a:avLst/>
          </a:prstGeom>
        </p:spPr>
      </p:pic>
      <p:pic>
        <p:nvPicPr>
          <p:cNvPr id="5" name="Picture 4"/>
          <p:cNvPicPr>
            <a:picLocks noChangeAspect="1"/>
          </p:cNvPicPr>
          <p:nvPr/>
        </p:nvPicPr>
        <p:blipFill>
          <a:blip r:embed="rId3"/>
          <a:stretch>
            <a:fillRect/>
          </a:stretch>
        </p:blipFill>
        <p:spPr>
          <a:xfrm>
            <a:off x="5771387" y="1510395"/>
            <a:ext cx="6236117" cy="4019797"/>
          </a:xfrm>
          <a:prstGeom prst="rect">
            <a:avLst/>
          </a:prstGeom>
        </p:spPr>
      </p:pic>
    </p:spTree>
    <p:extLst>
      <p:ext uri="{BB962C8B-B14F-4D97-AF65-F5344CB8AC3E}">
        <p14:creationId xmlns:p14="http://schemas.microsoft.com/office/powerpoint/2010/main" val="228289547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7363" y="624110"/>
            <a:ext cx="9747249" cy="1280890"/>
          </a:xfrm>
        </p:spPr>
        <p:txBody>
          <a:bodyPr>
            <a:normAutofit fontScale="90000"/>
          </a:bodyPr>
          <a:lstStyle/>
          <a:p>
            <a:r>
              <a:rPr lang="en-US" dirty="0"/>
              <a:t>Graph of Average Sleep Duration by Age Group</a:t>
            </a:r>
            <a:br>
              <a:rPr lang="en-US" dirty="0"/>
            </a:br>
            <a:endParaRPr lang="en-IN" dirty="0"/>
          </a:p>
        </p:txBody>
      </p:sp>
      <p:pic>
        <p:nvPicPr>
          <p:cNvPr id="4" name="Content Placeholder 3"/>
          <p:cNvPicPr>
            <a:picLocks noGrp="1" noChangeAspect="1"/>
          </p:cNvPicPr>
          <p:nvPr>
            <p:ph idx="1"/>
          </p:nvPr>
        </p:nvPicPr>
        <p:blipFill>
          <a:blip r:embed="rId2"/>
          <a:stretch>
            <a:fillRect/>
          </a:stretch>
        </p:blipFill>
        <p:spPr>
          <a:xfrm>
            <a:off x="838200" y="1690688"/>
            <a:ext cx="4554638" cy="3395058"/>
          </a:xfrm>
          <a:prstGeom prst="rect">
            <a:avLst/>
          </a:prstGeom>
        </p:spPr>
      </p:pic>
      <p:pic>
        <p:nvPicPr>
          <p:cNvPr id="5" name="Picture 4"/>
          <p:cNvPicPr>
            <a:picLocks noChangeAspect="1"/>
          </p:cNvPicPr>
          <p:nvPr/>
        </p:nvPicPr>
        <p:blipFill>
          <a:blip r:embed="rId3"/>
          <a:stretch>
            <a:fillRect/>
          </a:stretch>
        </p:blipFill>
        <p:spPr>
          <a:xfrm>
            <a:off x="5628476" y="1690688"/>
            <a:ext cx="5725324" cy="3581900"/>
          </a:xfrm>
          <a:prstGeom prst="rect">
            <a:avLst/>
          </a:prstGeom>
        </p:spPr>
      </p:pic>
    </p:spTree>
    <p:extLst>
      <p:ext uri="{BB962C8B-B14F-4D97-AF65-F5344CB8AC3E}">
        <p14:creationId xmlns:p14="http://schemas.microsoft.com/office/powerpoint/2010/main" val="194521884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00225" y="624110"/>
            <a:ext cx="10158413" cy="1280890"/>
          </a:xfrm>
        </p:spPr>
        <p:txBody>
          <a:bodyPr>
            <a:normAutofit fontScale="90000"/>
          </a:bodyPr>
          <a:lstStyle/>
          <a:p>
            <a:r>
              <a:rPr lang="en-US" dirty="0"/>
              <a:t>Graph of average quality of sleep by age group</a:t>
            </a:r>
            <a:br>
              <a:rPr lang="en-US" dirty="0"/>
            </a:br>
            <a:endParaRPr lang="en-IN" dirty="0"/>
          </a:p>
        </p:txBody>
      </p:sp>
      <p:pic>
        <p:nvPicPr>
          <p:cNvPr id="4" name="Content Placeholder 3"/>
          <p:cNvPicPr>
            <a:picLocks noGrp="1" noChangeAspect="1"/>
          </p:cNvPicPr>
          <p:nvPr>
            <p:ph idx="1"/>
          </p:nvPr>
        </p:nvPicPr>
        <p:blipFill>
          <a:blip r:embed="rId2"/>
          <a:stretch>
            <a:fillRect/>
          </a:stretch>
        </p:blipFill>
        <p:spPr>
          <a:xfrm>
            <a:off x="666750" y="1690688"/>
            <a:ext cx="4809642" cy="3776051"/>
          </a:xfrm>
          <a:prstGeom prst="rect">
            <a:avLst/>
          </a:prstGeom>
        </p:spPr>
      </p:pic>
      <p:pic>
        <p:nvPicPr>
          <p:cNvPr id="5" name="Picture 4"/>
          <p:cNvPicPr>
            <a:picLocks noChangeAspect="1"/>
          </p:cNvPicPr>
          <p:nvPr/>
        </p:nvPicPr>
        <p:blipFill>
          <a:blip r:embed="rId3"/>
          <a:stretch>
            <a:fillRect/>
          </a:stretch>
        </p:blipFill>
        <p:spPr>
          <a:xfrm>
            <a:off x="5995604" y="1783000"/>
            <a:ext cx="5487166" cy="3591426"/>
          </a:xfrm>
          <a:prstGeom prst="rect">
            <a:avLst/>
          </a:prstGeom>
        </p:spPr>
      </p:pic>
    </p:spTree>
    <p:extLst>
      <p:ext uri="{BB962C8B-B14F-4D97-AF65-F5344CB8AC3E}">
        <p14:creationId xmlns:p14="http://schemas.microsoft.com/office/powerpoint/2010/main" val="323749672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0200" y="400050"/>
            <a:ext cx="10591800" cy="1042988"/>
          </a:xfrm>
        </p:spPr>
        <p:txBody>
          <a:bodyPr>
            <a:normAutofit fontScale="90000"/>
          </a:bodyPr>
          <a:lstStyle/>
          <a:p>
            <a:r>
              <a:rPr lang="en-US" dirty="0"/>
              <a:t>Graph of Average Sleep Duration by Sleep Disorder</a:t>
            </a:r>
            <a:br>
              <a:rPr lang="en-US" dirty="0"/>
            </a:br>
            <a:endParaRPr lang="en-IN" dirty="0"/>
          </a:p>
        </p:txBody>
      </p:sp>
      <p:pic>
        <p:nvPicPr>
          <p:cNvPr id="4" name="Content Placeholder 3"/>
          <p:cNvPicPr>
            <a:picLocks noGrp="1" noChangeAspect="1"/>
          </p:cNvPicPr>
          <p:nvPr>
            <p:ph idx="1"/>
          </p:nvPr>
        </p:nvPicPr>
        <p:blipFill rotWithShape="1">
          <a:blip r:embed="rId2"/>
          <a:srcRect r="8211"/>
          <a:stretch/>
        </p:blipFill>
        <p:spPr>
          <a:xfrm>
            <a:off x="495070" y="1858038"/>
            <a:ext cx="4791305" cy="3014000"/>
          </a:xfrm>
          <a:prstGeom prst="rect">
            <a:avLst/>
          </a:prstGeom>
        </p:spPr>
      </p:pic>
      <p:pic>
        <p:nvPicPr>
          <p:cNvPr id="5" name="Picture 4"/>
          <p:cNvPicPr>
            <a:picLocks noChangeAspect="1"/>
          </p:cNvPicPr>
          <p:nvPr/>
        </p:nvPicPr>
        <p:blipFill>
          <a:blip r:embed="rId3"/>
          <a:stretch>
            <a:fillRect/>
          </a:stretch>
        </p:blipFill>
        <p:spPr>
          <a:xfrm>
            <a:off x="5586414" y="1690688"/>
            <a:ext cx="6215858" cy="3891398"/>
          </a:xfrm>
          <a:prstGeom prst="rect">
            <a:avLst/>
          </a:prstGeom>
        </p:spPr>
      </p:pic>
    </p:spTree>
    <p:extLst>
      <p:ext uri="{BB962C8B-B14F-4D97-AF65-F5344CB8AC3E}">
        <p14:creationId xmlns:p14="http://schemas.microsoft.com/office/powerpoint/2010/main" val="53891777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Proportion of average physical activity</a:t>
            </a:r>
            <a:br>
              <a:rPr lang="en-US" dirty="0"/>
            </a:br>
            <a:endParaRPr lang="en-IN" dirty="0"/>
          </a:p>
        </p:txBody>
      </p:sp>
      <p:pic>
        <p:nvPicPr>
          <p:cNvPr id="4" name="Content Placeholder 3"/>
          <p:cNvPicPr>
            <a:picLocks noGrp="1" noChangeAspect="1"/>
          </p:cNvPicPr>
          <p:nvPr>
            <p:ph idx="1"/>
          </p:nvPr>
        </p:nvPicPr>
        <p:blipFill>
          <a:blip r:embed="rId2"/>
          <a:stretch>
            <a:fillRect/>
          </a:stretch>
        </p:blipFill>
        <p:spPr>
          <a:xfrm>
            <a:off x="542642" y="1690688"/>
            <a:ext cx="5455387" cy="4338637"/>
          </a:xfrm>
          <a:prstGeom prst="rect">
            <a:avLst/>
          </a:prstGeom>
        </p:spPr>
      </p:pic>
      <p:pic>
        <p:nvPicPr>
          <p:cNvPr id="5" name="Picture 4"/>
          <p:cNvPicPr>
            <a:picLocks noChangeAspect="1"/>
          </p:cNvPicPr>
          <p:nvPr/>
        </p:nvPicPr>
        <p:blipFill>
          <a:blip r:embed="rId3"/>
          <a:stretch>
            <a:fillRect/>
          </a:stretch>
        </p:blipFill>
        <p:spPr>
          <a:xfrm>
            <a:off x="6556306" y="1523713"/>
            <a:ext cx="4662784" cy="4505611"/>
          </a:xfrm>
          <a:prstGeom prst="rect">
            <a:avLst/>
          </a:prstGeom>
        </p:spPr>
      </p:pic>
    </p:spTree>
    <p:extLst>
      <p:ext uri="{BB962C8B-B14F-4D97-AF65-F5344CB8AC3E}">
        <p14:creationId xmlns:p14="http://schemas.microsoft.com/office/powerpoint/2010/main" val="362783889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43075" y="624110"/>
            <a:ext cx="9761537" cy="1280890"/>
          </a:xfrm>
        </p:spPr>
        <p:txBody>
          <a:bodyPr>
            <a:normAutofit fontScale="90000"/>
          </a:bodyPr>
          <a:lstStyle/>
          <a:p>
            <a:r>
              <a:rPr lang="en-US" dirty="0" smtClean="0"/>
              <a:t>Comparison of </a:t>
            </a:r>
            <a:r>
              <a:rPr lang="en-US" dirty="0"/>
              <a:t>sleep disorder based on gender</a:t>
            </a:r>
            <a:br>
              <a:rPr lang="en-US" dirty="0"/>
            </a:br>
            <a:endParaRPr lang="en-IN" dirty="0"/>
          </a:p>
        </p:txBody>
      </p:sp>
      <p:pic>
        <p:nvPicPr>
          <p:cNvPr id="4" name="Content Placeholder 3"/>
          <p:cNvPicPr>
            <a:picLocks noGrp="1" noChangeAspect="1"/>
          </p:cNvPicPr>
          <p:nvPr>
            <p:ph idx="1"/>
          </p:nvPr>
        </p:nvPicPr>
        <p:blipFill rotWithShape="1">
          <a:blip r:embed="rId2"/>
          <a:srcRect r="6296"/>
          <a:stretch/>
        </p:blipFill>
        <p:spPr>
          <a:xfrm>
            <a:off x="299810" y="2714625"/>
            <a:ext cx="5735904" cy="1957387"/>
          </a:xfrm>
          <a:prstGeom prst="rect">
            <a:avLst/>
          </a:prstGeom>
        </p:spPr>
      </p:pic>
      <p:pic>
        <p:nvPicPr>
          <p:cNvPr id="5" name="Picture 4"/>
          <p:cNvPicPr>
            <a:picLocks noChangeAspect="1"/>
          </p:cNvPicPr>
          <p:nvPr/>
        </p:nvPicPr>
        <p:blipFill rotWithShape="1">
          <a:blip r:embed="rId3"/>
          <a:srcRect r="5125"/>
          <a:stretch/>
        </p:blipFill>
        <p:spPr>
          <a:xfrm>
            <a:off x="6323808" y="1907131"/>
            <a:ext cx="5796679" cy="3850732"/>
          </a:xfrm>
          <a:prstGeom prst="rect">
            <a:avLst/>
          </a:prstGeom>
        </p:spPr>
      </p:pic>
    </p:spTree>
    <p:extLst>
      <p:ext uri="{BB962C8B-B14F-4D97-AF65-F5344CB8AC3E}">
        <p14:creationId xmlns:p14="http://schemas.microsoft.com/office/powerpoint/2010/main" val="49430690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Graph of sleep duration vs sleep disorder</a:t>
            </a:r>
            <a:br>
              <a:rPr lang="en-US" dirty="0"/>
            </a:br>
            <a:endParaRPr lang="en-IN" dirty="0"/>
          </a:p>
        </p:txBody>
      </p:sp>
      <p:pic>
        <p:nvPicPr>
          <p:cNvPr id="4" name="Content Placeholder 3"/>
          <p:cNvPicPr>
            <a:picLocks noGrp="1" noChangeAspect="1"/>
          </p:cNvPicPr>
          <p:nvPr>
            <p:ph idx="1"/>
          </p:nvPr>
        </p:nvPicPr>
        <p:blipFill>
          <a:blip r:embed="rId2"/>
          <a:stretch>
            <a:fillRect/>
          </a:stretch>
        </p:blipFill>
        <p:spPr>
          <a:xfrm>
            <a:off x="617288" y="2493888"/>
            <a:ext cx="5197726" cy="2278137"/>
          </a:xfrm>
          <a:prstGeom prst="rect">
            <a:avLst/>
          </a:prstGeom>
        </p:spPr>
      </p:pic>
      <p:pic>
        <p:nvPicPr>
          <p:cNvPr id="5" name="Picture 4"/>
          <p:cNvPicPr>
            <a:picLocks noChangeAspect="1"/>
          </p:cNvPicPr>
          <p:nvPr/>
        </p:nvPicPr>
        <p:blipFill>
          <a:blip r:embed="rId3"/>
          <a:stretch>
            <a:fillRect/>
          </a:stretch>
        </p:blipFill>
        <p:spPr>
          <a:xfrm>
            <a:off x="5986069" y="1905000"/>
            <a:ext cx="5686475" cy="3652838"/>
          </a:xfrm>
          <a:prstGeom prst="rect">
            <a:avLst/>
          </a:prstGeom>
        </p:spPr>
      </p:pic>
    </p:spTree>
    <p:extLst>
      <p:ext uri="{BB962C8B-B14F-4D97-AF65-F5344CB8AC3E}">
        <p14:creationId xmlns:p14="http://schemas.microsoft.com/office/powerpoint/2010/main" val="3772043085"/>
      </p:ext>
    </p:extLst>
  </p:cSld>
  <p:clrMapOvr>
    <a:masterClrMapping/>
  </p:clrMapOvr>
  <p:timing>
    <p:tnLst>
      <p:par>
        <p:cTn id="1" dur="indefinite" restart="never" nodeType="tmRoot"/>
      </p:par>
    </p:tnLst>
  </p:timing>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52</TotalTime>
  <Words>156</Words>
  <Application>Microsoft Office PowerPoint</Application>
  <PresentationFormat>Widescreen</PresentationFormat>
  <Paragraphs>12</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Century Gothic</vt:lpstr>
      <vt:lpstr>Times New Roman</vt:lpstr>
      <vt:lpstr>Wingdings 3</vt:lpstr>
      <vt:lpstr>Wisp</vt:lpstr>
      <vt:lpstr>Sleep disorder Analysis</vt:lpstr>
      <vt:lpstr>    Data Loading</vt:lpstr>
      <vt:lpstr>Data Preprocessing</vt:lpstr>
      <vt:lpstr>Graph of Occupation vs Average age groups  </vt:lpstr>
      <vt:lpstr>       Graph of average stress level by age group </vt:lpstr>
      <vt:lpstr>Graph of Average Sleep Duration by Age Group </vt:lpstr>
      <vt:lpstr>Graph of average quality of sleep by age group </vt:lpstr>
      <vt:lpstr>Graph of Average Sleep Duration by Sleep Disorder </vt:lpstr>
      <vt:lpstr>Proportion of average physical activity </vt:lpstr>
      <vt:lpstr>Comparison of sleep disorder based on gender </vt:lpstr>
      <vt:lpstr>Graph of sleep duration vs sleep disorder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Sleep disorder Analysis</dc:title>
  <dc:creator>Dell</dc:creator>
  <cp:lastModifiedBy>Dell</cp:lastModifiedBy>
  <cp:revision>6</cp:revision>
  <dcterms:created xsi:type="dcterms:W3CDTF">2025-12-15T15:11:24Z</dcterms:created>
  <dcterms:modified xsi:type="dcterms:W3CDTF">2025-12-15T16:04:22Z</dcterms:modified>
</cp:coreProperties>
</file>